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0"/>
            <a:ext cx="3200400" cy="3200400"/>
          </a:xfrm>
          <a:prstGeom prst="ellipse">
            <a:avLst/>
          </a:prstGeom>
          <a:solidFill>
            <a:srgbClr val="02A3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Small Business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02C39A"/>
                </a:solidFill>
              </a:rPr>
              <a:t>with DHCP &amp; DNS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794760"/>
            <a:ext cx="640080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97763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D4EA"/>
                </a:solidFill>
              </a:rPr>
              <a:t>Capstone Project  |  Computer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0B4CC"/>
                </a:solidFill>
              </a:rPr>
              <a:t>Department-based Network Design for IT, Marketing &amp; Finance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09728" cy="4937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</a:rPr>
              <a:t>What Is This Project?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</a:rPr>
              <a:t>A simulated small business network built in</a:t>
            </a:r>
          </a:p>
          <a:p>
            <a:pPr algn="l"/>
            <a:r>
              <a:rPr sz="1350" b="0">
                <a:solidFill>
                  <a:srgbClr val="1E293B"/>
                </a:solidFill>
              </a:rPr>
              <a:t>Cisco Packet Tracer, divided into three</a:t>
            </a:r>
          </a:p>
          <a:p>
            <a:pPr algn="l"/>
            <a:r>
              <a:rPr sz="1350" b="0">
                <a:solidFill>
                  <a:srgbClr val="1E293B"/>
                </a:solidFill>
              </a:rPr>
              <a:t>departments:</a:t>
            </a:r>
          </a:p>
          <a:p>
            <a:pPr algn="l"/>
            <a:r>
              <a:rPr sz="1350" b="0">
                <a:solidFill>
                  <a:srgbClr val="1E293B"/>
                </a:solidFill>
              </a:rPr>
              <a:t/>
            </a:r>
          </a:p>
          <a:p>
            <a:pPr algn="l"/>
            <a:r>
              <a:rPr sz="1350" b="0">
                <a:solidFill>
                  <a:srgbClr val="1E293B"/>
                </a:solidFill>
              </a:rPr>
              <a:t>  •  IT Department</a:t>
            </a:r>
          </a:p>
          <a:p>
            <a:pPr algn="l"/>
            <a:r>
              <a:rPr sz="1350" b="0">
                <a:solidFill>
                  <a:srgbClr val="1E293B"/>
                </a:solidFill>
              </a:rPr>
              <a:t>  •  Marketing Department</a:t>
            </a:r>
          </a:p>
          <a:p>
            <a:pPr algn="l"/>
            <a:r>
              <a:rPr sz="1350" b="0">
                <a:solidFill>
                  <a:srgbClr val="1E293B"/>
                </a:solidFill>
              </a:rPr>
              <a:t>  •  Finance Department</a:t>
            </a:r>
          </a:p>
          <a:p>
            <a:pPr algn="l"/>
            <a:r>
              <a:rPr sz="1350" b="0">
                <a:solidFill>
                  <a:srgbClr val="1E293B"/>
                </a:solidFill>
              </a:rPr>
              <a:t/>
            </a:r>
          </a:p>
          <a:p>
            <a:pPr algn="l"/>
            <a:r>
              <a:rPr sz="1350" b="0">
                <a:solidFill>
                  <a:srgbClr val="1E293B"/>
                </a:solidFill>
              </a:rPr>
              <a:t>Each department has its own switch and</a:t>
            </a:r>
          </a:p>
          <a:p>
            <a:pPr algn="l"/>
            <a:r>
              <a:rPr sz="1350" b="0">
                <a:solidFill>
                  <a:srgbClr val="1E293B"/>
                </a:solidFill>
              </a:rPr>
              <a:t>PCs, all connected to a central router.</a:t>
            </a:r>
          </a:p>
          <a:p>
            <a:pPr algn="l"/>
            <a:r>
              <a:rPr sz="1350" b="0">
                <a:solidFill>
                  <a:srgbClr val="1E293B"/>
                </a:solidFill>
              </a:rPr>
              <a:t/>
            </a:r>
          </a:p>
          <a:p>
            <a:pPr algn="l"/>
            <a:r>
              <a:rPr sz="1350" b="0">
                <a:solidFill>
                  <a:srgbClr val="1E293B"/>
                </a:solidFill>
              </a:rPr>
              <a:t>DHCP automates IP address assignment.</a:t>
            </a:r>
          </a:p>
          <a:p>
            <a:pPr algn="l"/>
            <a:r>
              <a:rPr sz="1350" b="0">
                <a:solidFill>
                  <a:srgbClr val="1E293B"/>
                </a:solidFill>
              </a:rPr>
              <a:t>DNS resolves domain names for all devices.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57784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109728" cy="4937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</a:rPr>
              <a:t>Project Goals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194560"/>
            <a:ext cx="1005840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194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A department-based star topology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953512"/>
            <a:ext cx="1005840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9535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95351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DHCP for centralized IP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712463"/>
            <a:ext cx="1005840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12463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Implement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712463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DNS for domain name resolution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4471416"/>
            <a:ext cx="1005840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4714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Connect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47141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All devices via a main router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5230368"/>
            <a:ext cx="1005840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2303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Demonstrate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2303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Inter-department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Network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5A82"/>
                </a:solidFill>
              </a:rPr>
              <a:t>Star Topology  —  Central Router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2057400"/>
            <a:ext cx="2286000" cy="6400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057400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Main Router
(Router-PT-Empty)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57400"/>
            <a:ext cx="2194560" cy="6400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05740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DHCP Server
DNS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63240"/>
            <a:ext cx="2194560" cy="457200"/>
          </a:xfrm>
          <a:prstGeom prst="rect">
            <a:avLst/>
          </a:prstGeom>
          <a:solidFill>
            <a:srgbClr val="2D9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306324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Switch6 (2950-24)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3566160" cy="1005840"/>
          </a:xfrm>
          <a:prstGeom prst="rect">
            <a:avLst/>
          </a:prstGeom>
          <a:solidFill>
            <a:srgbClr val="027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IT Department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091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EF5"/>
                </a:solidFill>
              </a:rPr>
              <a:t>Switch1
6 PCs (PC0–PC5)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4297680"/>
            <a:ext cx="3566160" cy="1005840"/>
          </a:xfrm>
          <a:prstGeom prst="rect">
            <a:avLst/>
          </a:prstGeom>
          <a:solidFill>
            <a:srgbClr val="02A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43434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Marketing 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7091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EF5"/>
                </a:solidFill>
              </a:rPr>
              <a:t>Switch2
7 PCs (PC3,PC6–PC12)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4297680"/>
            <a:ext cx="3566160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434340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Finance Department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7091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EF5"/>
                </a:solidFill>
              </a:rPr>
              <a:t>Switch3
6 PCs (PC9–PC14)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11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↑ Connected via dedicated switch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611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↑ Connected via dedicated switch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611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↑ Connected via dedicated switch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77840"/>
            <a:ext cx="11430000" cy="59436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596128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65A82"/>
                </a:solidFill>
              </a:rPr>
              <a:t>All switches connect back to the Main Router  |  Router acts as default gateway for all departments  |  Total: 4 switches, 1 router, 2 servers, 15+ PCs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Devices &amp;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09728" cy="2331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🔀 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Router-PT-Empty
(Main Router)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Default gateway connecting all departments. Routes traffic between IT, Marketing, Finance networks.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109728" cy="2331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🔌  Switches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2950-24TT × 3
2950-24 ×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331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One switch per department (Switch1–3) + Switch6 for servers. Star topology within each department.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280160"/>
            <a:ext cx="109728" cy="2331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3716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🖥  DHCP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7830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Server-PT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2331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Automatically assigns IP addresses to all PCs. Eliminates manual IP configuration across the network.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40479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40479"/>
            <a:ext cx="109728" cy="2331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319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🌐  DNS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34339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Server-PT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8920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Resolves domain names to IP addresses. Enables users to access resources by name instead of IP.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840479"/>
            <a:ext cx="365760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840479"/>
            <a:ext cx="109728" cy="2331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93191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💻  PCs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343399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PC-PT × 15+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89204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End-user devices spread across three departments: IT (6), Marketing (7), Finance (6). Named PC0–PC14.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5577840" cy="1600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9728" cy="1600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Star Topology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Each department uses a star layout where all PCs connect to a central switch. This ensures easy management and fault isolation.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5577840" cy="1600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109728" cy="1600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DHCP (Centralized IP)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The DHCP server dynamically assigns IP addresses to every device. No manual configuration needed — plug in and connect.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71800"/>
            <a:ext cx="5577840" cy="1600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109728" cy="1600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6324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DNS (Name Resolution)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4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DNS server maps domain names to IPs. Users and devices communicate using names rather than memorizing IP addresses.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971800"/>
            <a:ext cx="5577840" cy="1600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971800"/>
            <a:ext cx="109728" cy="1600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06324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Department Isolation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2044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Each department is segmented into its own subnet via its dedicated switch, improving security and traffic management.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09160"/>
            <a:ext cx="5577840" cy="1600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709160"/>
            <a:ext cx="109728" cy="1600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8006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Scalable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5780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New devices can be added to any department switch without reconfiguring the entire network. The design grows with the business.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709160"/>
            <a:ext cx="5577840" cy="1600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709160"/>
            <a:ext cx="109728" cy="1600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8006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Inter-Dept. Communication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25780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All departments route through the Main Router, allowing secure and controlled communication between IT, Marketing, and Finance.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DHCP &amp; DNS — How They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48640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DHCP — Dynamic Host Configuration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</a:rPr>
              <a:t>1. PC powers on and sends a DISCOVER broadcast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2. DHCP Server receives and responds with OFFER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3. PC sends REQUEST to confirm the offered IP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4. Server sends ACK — IP address is now assigned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Benefits in this network: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  • No manual IP entry needed on any PC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  • Prevents IP address conflicts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  • Centrally managed from one server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  • Easy to add new devices to any department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280160"/>
            <a:ext cx="548640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DNS — Domain Name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</a:rPr>
              <a:t>1. User types a domain name (e.g. server.local)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2. PC queries DNS server for the IP address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3. DNS server looks up its records and responds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4. PC uses the returned IP to connect directly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/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Benefits in this network: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  • Users access resources by name, not IP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  • Centralizes name-to-IP mapping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  • Reduces configuration errors</a:t>
            </a:r>
          </a:p>
          <a:p>
            <a:pPr algn="l"/>
            <a:r>
              <a:rPr sz="1250" b="0">
                <a:solidFill>
                  <a:srgbClr val="1E293B"/>
                </a:solidFill>
              </a:rPr>
              <a:t>  • Scales with the business easily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Benefits of This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0584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212080" cy="1554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Easy to Manage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Centralized DHCP and DNS means network admins control everything from two servers. Changes propagate automatically.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280160"/>
            <a:ext cx="5212080" cy="1554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Reduces Manual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No need to manually configure IP addresses on each PC. New devices get automatically assigned addresses by DHCP.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5212080" cy="1554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Scalable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New employees or departments can be added by simply connecting to an existing switch — no redesign required.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3017520"/>
            <a:ext cx="5212080" cy="1554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Improved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5661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All departments communicate through the router, enabling controlled, organized inter-departmental data exchange.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79"/>
            <a:ext cx="5212080" cy="1554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463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Error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1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Automated IP assignment prevents duplicate IPs. DNS prevents mistyped addresses when accessing shared resources.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4754879"/>
            <a:ext cx="5212080" cy="1554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8463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</a:rPr>
              <a:t>Real-World Simulation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303519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Built in Cisco Packet Tracer — mirrors actual enterprise network design used by small-to-medium businesses.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657600"/>
            <a:ext cx="5486400" cy="5486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783080"/>
            <a:ext cx="73152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This Small Business Network successfully demonstrates how a real-world company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network can be designed, configured, and simulated using Cisco Packet Tracer.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By combining DHCP for automated IP management and DNS for domain resolution,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the network is efficient, scalable, and easy to maintain.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The department-based star topology ensures each team operates on its own</a:t>
            </a:r>
          </a:p>
          <a:p>
            <a:pPr algn="l"/>
            <a:r>
              <a:rPr sz="1500" b="0">
                <a:solidFill>
                  <a:srgbClr val="FFFFFF"/>
                </a:solidFill>
              </a:rPr>
              <a:t>segment while remaining fully connected through the central router.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394960"/>
            <a:ext cx="2286000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</a:rPr>
              <a:t>15+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End Devices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5394960"/>
            <a:ext cx="2286000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5440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Departments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5394960"/>
            <a:ext cx="2286000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5440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Central Router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5394960"/>
            <a:ext cx="2286000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5440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C39A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59893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Servers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